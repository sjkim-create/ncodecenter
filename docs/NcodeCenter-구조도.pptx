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822960"/>
            <a:ext cx="3566160" cy="5212080"/>
          </a:xfrm>
          <a:prstGeom prst="roundRect">
            <a:avLst>
              <a:gd name="adj" fmla="val 3077"/>
            </a:avLst>
          </a:prstGeom>
          <a:solidFill>
            <a:srgbClr val="1E3160"/>
          </a:solidFill>
          <a:ln w="12700">
            <a:solidFill>
              <a:srgbClr val="2A3E7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58200" y="1234440"/>
            <a:ext cx="384048" cy="384048"/>
          </a:xfrm>
          <a:prstGeom prst="ellipse">
            <a:avLst/>
          </a:prstGeom>
          <a:solidFill>
            <a:srgbClr val="5F8FF0"/>
          </a:solidFill>
          <a:ln/>
        </p:spPr>
      </p:sp>
      <p:sp>
        <p:nvSpPr>
          <p:cNvPr id="4" name="Text 2"/>
          <p:cNvSpPr/>
          <p:nvPr/>
        </p:nvSpPr>
        <p:spPr>
          <a:xfrm>
            <a:off x="845820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006840" y="121615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등록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50224" y="1655064"/>
            <a:ext cx="0" cy="749808"/>
          </a:xfrm>
          <a:prstGeom prst="line">
            <a:avLst/>
          </a:prstGeom>
          <a:noFill/>
          <a:ln w="19050">
            <a:solidFill>
              <a:srgbClr val="3A529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8458200" y="2404872"/>
            <a:ext cx="384048" cy="384048"/>
          </a:xfrm>
          <a:prstGeom prst="ellipse">
            <a:avLst/>
          </a:prstGeom>
          <a:solidFill>
            <a:srgbClr val="5F8FF0"/>
          </a:solidFill>
          <a:ln/>
        </p:spPr>
      </p:sp>
      <p:sp>
        <p:nvSpPr>
          <p:cNvPr id="8" name="Text 6"/>
          <p:cNvSpPr/>
          <p:nvPr/>
        </p:nvSpPr>
        <p:spPr>
          <a:xfrm>
            <a:off x="845820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006840" y="23865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할당 · 서비스 지정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50224" y="2825496"/>
            <a:ext cx="0" cy="749808"/>
          </a:xfrm>
          <a:prstGeom prst="line">
            <a:avLst/>
          </a:prstGeom>
          <a:noFill/>
          <a:ln w="19050">
            <a:solidFill>
              <a:srgbClr val="3A529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8458200" y="3575304"/>
            <a:ext cx="384048" cy="384048"/>
          </a:xfrm>
          <a:prstGeom prst="ellipse">
            <a:avLst/>
          </a:prstGeom>
          <a:solidFill>
            <a:srgbClr val="5F8FF0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006840" y="355701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· 검증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650224" y="3995928"/>
            <a:ext cx="0" cy="749808"/>
          </a:xfrm>
          <a:prstGeom prst="line">
            <a:avLst/>
          </a:prstGeom>
          <a:noFill/>
          <a:ln w="19050">
            <a:solidFill>
              <a:srgbClr val="3A529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458200" y="4745736"/>
            <a:ext cx="384048" cy="384048"/>
          </a:xfrm>
          <a:prstGeom prst="ellipse">
            <a:avLst/>
          </a:prstGeom>
          <a:solidFill>
            <a:srgbClr val="5F8FF0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4745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06840" y="4727448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· 정산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86868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5F8FF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868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58368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F8F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개발팀 리뷰 · 프로토타입 구조 설명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25146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Ncode</a:t>
            </a:r>
            <a:pPr indent="0" marL="0">
              <a:buNone/>
            </a:pPr>
            <a:r>
              <a:rPr lang="en-US" sz="5400" b="1" dirty="0">
                <a:solidFill>
                  <a:srgbClr val="5F8F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Center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658368" y="3611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Ncode 상태를 관리하는 중추 시스템 구조도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8368" y="43434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Caster Admin 기능을 계승하고, 관리 · 정산 · 코드 관제를 더한다.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" y="5989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Ncode 상태 관리 시스템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위한 시스템인가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엑셀로 흩어져 있던 관리 업무를 통합하고(목적 1), 코드 사용을 자동 관제하는 허브를 지향한다(목적 2).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5F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C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777240" cy="777240"/>
          </a:xfrm>
          <a:prstGeom prst="ellipse">
            <a:avLst/>
          </a:prstGeom>
          <a:solidFill>
            <a:srgbClr val="E9F0F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B5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 1 · 업무 효율화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4564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가능한 통합 관리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32688" y="406908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엑셀로 관리하던 고객사 · 편집 상황 · SOBP 할당을 화면으로 통합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편집팀뿐 아니라 사업부 · 재무팀도 함께 확인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관리와 정산 관리에 바로 활용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5F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C8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94560"/>
            <a:ext cx="777240" cy="777240"/>
          </a:xfrm>
          <a:prstGeom prst="ellipse">
            <a:avLst/>
          </a:prstGeom>
          <a:solidFill>
            <a:srgbClr val="E1F5F1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7D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 2 · 코드 관제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34564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검증 · 자동 반영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647688" y="406908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casterN · 폼솔루션 등 자체 서비스의 SOBP 사용을 자동 확인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미할당 코드 입력 · 기간 만료 시 서비스 사용 차단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사용한 만큼 코드 사용량을 원장에 자동 반영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F8F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  </a:t>
            </a:r>
            <a:pPr indent="0" marL="0">
              <a:buNone/>
            </a:pPr>
            <a:r>
              <a:rPr lang="en-US" sz="27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Caster Admin과의 관계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NcodeCenter는 개발팀 Admin의 기능을 계승하고, 관리 · 정산 · 관제를 더했다.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754880"/>
                <a:gridCol w="3383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Web Caster Admin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NcodeCenter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4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Ticket 발급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 발급 (TKT-01)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5CC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계승 + 정산/금액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User + Company 관리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고객사 관리 (CLI-01) · 상위/하위/단독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5CC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통합 (정상화)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Ncode 예약 + List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 없음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D64B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미채택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Ncode 할당 + List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SOBP 맵 · 코드 프로젝트(조회전용)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B5CC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계승 + 필터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Ncode Info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Ncode 정보 (INF-01)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A667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계승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B98A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7D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대시보드 · 편집 프로젝트 · PUI · 활동 로그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E7D7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신규 / 추가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User·Company 분리 → 고객사 하나로 통합 · Ncode 예약(메뉴·상태) 폐기 → '할당됨 / 미발급'만.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F8F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동일 · 차이  </a:t>
            </a:r>
            <a:pPr indent="0" marL="0">
              <a:buNone/>
            </a:pPr>
            <a:r>
              <a:rPr lang="en-US" sz="27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같고, 무엇을 더했나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항목은 NcodeCenter에는 구현돼 있으나 Admin엔 없다 → 개발팀이 실 서비스에 반영해야 할 항목.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DE5F1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C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5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🟰  동일 (Admin 계승)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티켓 발급 — 코드 티켓 발급 · 이력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할당 → SOBP 맵으로 시각화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고객(User) · 회사(Company) 관리 → 고객사 통합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Ncode Info — 섹션 · 코드 체계 참조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492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C8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D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➕  더한 것 = 개발팀 반영 필요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377440"/>
          <a:ext cx="480060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NcodeCenter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Admin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활동 로그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F9C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B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SOBP 맵 필터(5종)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F9C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B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정산 (금액)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F9C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B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대시보드·편집·PUI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F9C6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✅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4B4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12700" marB="127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9834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AF0DD"/>
          </a:solidFill>
          <a:ln w="12700">
            <a:solidFill>
              <a:srgbClr val="C8863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280160" y="51389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8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변경 — 예약(RESERVED) 개념 폐기  </a:t>
            </a:r>
            <a:pPr indent="0" marL="0">
              <a:buNone/>
            </a:pPr>
            <a:r>
              <a:rPr lang="en-US" sz="11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(PC-003~005)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80160" y="546811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Admin식 '예약'을 메뉴로도 상태로도 두지 않는다. 코드 상태는 '할당됨 / 미발급' 2가지로 단순화. (기존 예약 243건 → 모두 할당됨)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F8F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 </a:t>
            </a:r>
            <a:pPr indent="0" marL="0">
              <a:buNone/>
            </a:pPr>
            <a:r>
              <a:rPr lang="en-US" sz="27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계층 · 사용 서비스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고객사는 공통(커먼)코드 보유·사용 관계로 3분류. 사용 서비스는 SOBP 맵에서 코드 할당 시 지정한다(PC-010~014).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계층 — 공통코드 관계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5F8FF0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C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84832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E9F0F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848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8F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(대표)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5786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공통(커먼)코드를 보유한 대장 고객사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61688" y="1828800"/>
            <a:ext cx="3611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C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2084832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E1F5F1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20848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5786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공통코드를 사용(멤버십 귀속) · 정식 회사 레코드로 관리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74736" y="1828800"/>
            <a:ext cx="36118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C8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03336" y="2084832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F1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8403336" y="208483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30768" y="25786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공통코드와 무관한 일반 고객사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서비스 — SOBP 맵 코드 할당에서 지정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2157984" cy="1051560"/>
          </a:xfrm>
          <a:prstGeom prst="roundRect">
            <a:avLst>
              <a:gd name="adj" fmla="val 7826"/>
            </a:avLst>
          </a:prstGeom>
          <a:solidFill>
            <a:srgbClr val="EEF2F9"/>
          </a:solidFill>
          <a:ln w="12700">
            <a:solidFill>
              <a:srgbClr val="DDE5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178808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409651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casterN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49808" y="44348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편집툴 — 편집 프로젝트 = casterN 자동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98064" y="3977640"/>
            <a:ext cx="2157984" cy="1051560"/>
          </a:xfrm>
          <a:prstGeom prst="roundRect">
            <a:avLst>
              <a:gd name="adj" fmla="val 7826"/>
            </a:avLst>
          </a:prstGeom>
          <a:solidFill>
            <a:srgbClr val="EEF2F9"/>
          </a:solidFill>
          <a:ln w="12700">
            <a:solidFill>
              <a:srgbClr val="DDE5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80944" y="4178808"/>
            <a:ext cx="128016" cy="128016"/>
          </a:xfrm>
          <a:prstGeom prst="ellipse">
            <a:avLst/>
          </a:prstGeom>
          <a:solidFill>
            <a:srgbClr val="5F8FF0"/>
          </a:solidFill>
          <a:ln/>
        </p:spPr>
      </p:sp>
      <p:sp>
        <p:nvSpPr>
          <p:cNvPr id="24" name="Text 22"/>
          <p:cNvSpPr/>
          <p:nvPr/>
        </p:nvSpPr>
        <p:spPr>
          <a:xfrm>
            <a:off x="3182112" y="409651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아이글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2999232" y="44348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AiGLE 서비스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47488" y="3977640"/>
            <a:ext cx="2157984" cy="1051560"/>
          </a:xfrm>
          <a:prstGeom prst="roundRect">
            <a:avLst>
              <a:gd name="adj" fmla="val 7826"/>
            </a:avLst>
          </a:prstGeom>
          <a:solidFill>
            <a:srgbClr val="EEF2F9"/>
          </a:solidFill>
          <a:ln w="12700">
            <a:solidFill>
              <a:srgbClr val="DDE5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30368" y="4178808"/>
            <a:ext cx="128016" cy="128016"/>
          </a:xfrm>
          <a:prstGeom prst="ellipse">
            <a:avLst/>
          </a:prstGeom>
          <a:solidFill>
            <a:srgbClr val="5F8FF0"/>
          </a:solidFill>
          <a:ln/>
        </p:spPr>
      </p:sp>
      <p:sp>
        <p:nvSpPr>
          <p:cNvPr id="28" name="Text 26"/>
          <p:cNvSpPr/>
          <p:nvPr/>
        </p:nvSpPr>
        <p:spPr>
          <a:xfrm>
            <a:off x="5431536" y="409651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폼솔루션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248656" y="44348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등급별 코드 풀 · end-user 배정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96912" y="3977640"/>
            <a:ext cx="2157984" cy="1051560"/>
          </a:xfrm>
          <a:prstGeom prst="roundRect">
            <a:avLst>
              <a:gd name="adj" fmla="val 7826"/>
            </a:avLst>
          </a:prstGeom>
          <a:solidFill>
            <a:srgbClr val="EEF2F9"/>
          </a:solidFill>
          <a:ln w="12700">
            <a:solidFill>
              <a:srgbClr val="DDE5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79792" y="4178808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0" y="409651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NeoStudio2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498080" y="44348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book 단위 관리 (구 네오노트)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546336" y="3977640"/>
            <a:ext cx="2157984" cy="1051560"/>
          </a:xfrm>
          <a:prstGeom prst="roundRect">
            <a:avLst>
              <a:gd name="adj" fmla="val 7826"/>
            </a:avLst>
          </a:prstGeom>
          <a:solidFill>
            <a:srgbClr val="EEF2F9"/>
          </a:solidFill>
          <a:ln w="12700">
            <a:solidFill>
              <a:srgbClr val="DDE5F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29216" y="4178808"/>
            <a:ext cx="128016" cy="128016"/>
          </a:xfrm>
          <a:prstGeom prst="ellipse">
            <a:avLst/>
          </a:prstGeom>
          <a:solidFill>
            <a:srgbClr val="8B98A9"/>
          </a:solidFill>
          <a:ln/>
        </p:spPr>
      </p:sp>
      <p:sp>
        <p:nvSpPr>
          <p:cNvPr id="36" name="Text 34"/>
          <p:cNvSpPr/>
          <p:nvPr/>
        </p:nvSpPr>
        <p:spPr>
          <a:xfrm>
            <a:off x="9930384" y="4096512"/>
            <a:ext cx="1655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서비스없음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747504" y="4434840"/>
            <a:ext cx="1792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미지정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5257800"/>
            <a:ext cx="11064240" cy="658368"/>
          </a:xfrm>
          <a:prstGeom prst="roundRect">
            <a:avLst>
              <a:gd name="adj" fmla="val 12500"/>
            </a:avLst>
          </a:prstGeom>
          <a:solidFill>
            <a:srgbClr val="E9F0FE"/>
          </a:solidFill>
          <a:ln w="12700">
            <a:solidFill>
              <a:srgbClr val="5F8F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25780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5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지정 위치 — </a:t>
            </a:r>
            <a:pPr indent="0" marL="0">
              <a:buNone/>
            </a:pPr>
            <a:r>
              <a:rPr lang="en-US" sz="1250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서비스는 </a:t>
            </a:r>
            <a:pPr indent="0" marL="0">
              <a:buNone/>
            </a:pPr>
            <a:r>
              <a:rPr lang="en-US" sz="1250" b="1" dirty="0">
                <a:solidFill>
                  <a:srgbClr val="2B5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SOBP 맵의 '직접 코드 할당'</a:t>
            </a:r>
            <a:pPr indent="0" marL="0">
              <a:buNone/>
            </a:pPr>
            <a:r>
              <a:rPr lang="en-US" sz="1250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에서만 지정. 코드 프로젝트는 조회·검색 전용(PC-011).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F8F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추가①  </a:t>
            </a:r>
            <a:pPr indent="0" marL="0">
              <a:buNone/>
            </a:pPr>
            <a:r>
              <a:rPr lang="en-US" sz="27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SOBP 맵 필터링 (5종)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NcodeCenter 화면엔 이미 구현 · Admin엔 없음 → NDP/Ncode API가 아래 상태를 구분 · 필터하도록 개발팀 반영 필요.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6858000"/>
                <a:gridCol w="182880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필터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의미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상태색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24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발급 전체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발급(할당)된 코드 전체 — 편집 · 공유 · 사용가능 포함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8B98A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코드 미발급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아직 발급되지 않은 빈 코드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9AA7B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회색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편집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발급 코드 중 편집에 쓰인 코드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5F8F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파랑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공유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여러 고객사가 함께 쓰도록 지정된 Owner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A855F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보라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사용가능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공유(커먼) 코드 중 아직 편집하지 않은 코드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● 주황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1600" marR="101600" marT="25400" marB="25400" anchor="ctr">
                    <a:lnL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요약: 발급전체 / 코드 미발급 / 편집 / 공유 / 공유 중 미사용(=사용가능) — 5종 상태를 API 응답에서 구분할 수 있어야 한다.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F8F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추가②  </a:t>
            </a:r>
            <a:pPr indent="0" marL="0">
              <a:buNone/>
            </a:pPr>
            <a:r>
              <a:rPr lang="en-US" sz="27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정산 — 3단 단가 구조 (금액)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 프로젝트(=casterN)에 편집량(페이지·심볼)뿐 아니라 금액(청구액)을 추가. 재무팀이 고객사별 청구액을 바로 확인.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5F8FF0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C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64208"/>
            <a:ext cx="402336" cy="402336"/>
          </a:xfrm>
          <a:prstGeom prst="ellipse">
            <a:avLst/>
          </a:prstGeom>
          <a:solidFill>
            <a:srgbClr val="5F8F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64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기본(표준) 단가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786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F8F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전사 표준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E9F0F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71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PDF 페이지 500원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심볼 편집 1,000원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087368" y="2743200"/>
            <a:ext cx="237744" cy="457200"/>
          </a:xfrm>
          <a:prstGeom prst="rightArrow">
            <a:avLst/>
          </a:prstGeom>
          <a:solidFill>
            <a:srgbClr val="C7D2E5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18288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C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1664208"/>
            <a:ext cx="402336" cy="40233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664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17720" y="21488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단가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17720" y="25786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관리에서 지정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2971800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E1F5F1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971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단가를 고객사별로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수정해 저장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882128" y="2743200"/>
            <a:ext cx="237744" cy="457200"/>
          </a:xfrm>
          <a:prstGeom prst="rightArrow">
            <a:avLst/>
          </a:prstGeom>
          <a:solidFill>
            <a:srgbClr val="C7D2E5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182880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C8863A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C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66760" y="1664208"/>
            <a:ext cx="402336" cy="402336"/>
          </a:xfrm>
          <a:prstGeom prst="ellipse">
            <a:avLst/>
          </a:prstGeom>
          <a:solidFill>
            <a:srgbClr val="C8863A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1664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214884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단가 · 할인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12480" y="25786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8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교재(책)별 조정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12480" y="2971800"/>
            <a:ext cx="2971800" cy="914400"/>
          </a:xfrm>
          <a:prstGeom prst="roundRect">
            <a:avLst>
              <a:gd name="adj" fmla="val 6000"/>
            </a:avLst>
          </a:prstGeom>
          <a:solidFill>
            <a:srgbClr val="FAF0DD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2971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 조정 +</a:t>
            </a:r>
            <a:endParaRPr lang="en-US" sz="13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할인율 / 할인액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142244"/>
          </a:solidFill>
          <a:ln w="12700">
            <a:solidFill>
              <a:srgbClr val="DDE5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청구액 계산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8F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청구액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(페이지 × 페이지단가 + 심볼 × 심볼단가) × (1 − 할인율) − 추가할인액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5486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기준가 = 고객사 단가로 계산한 금액 · 총 할인액 = 기준가 − 청구액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5F8F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도식 1  </a:t>
            </a:r>
            <a:pPr indent="0" marL="0">
              <a:buNone/>
            </a:pPr>
            <a:r>
              <a:rPr lang="en-US" sz="27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흐름도 — 기능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엑셀 데이터를 업무 순서로 재구성 — 고객사 등록 → 코드 할당·서비스 지정 → 사용(편집/티켓) → 현황 조회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7223760" cy="384048"/>
          </a:xfrm>
          <a:prstGeom prst="roundRect">
            <a:avLst>
              <a:gd name="adj" fmla="val 14286"/>
            </a:avLst>
          </a:prstGeom>
          <a:solidFill>
            <a:srgbClr val="EEF2F9"/>
          </a:solidFill>
          <a:ln w="12700">
            <a:solidFill>
              <a:srgbClr val="DDE5F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trike="sngStrike" dirty="0">
                <a:solidFill>
                  <a:srgbClr val="8B9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📄 Excel 분산 관리</a:t>
            </a:r>
            <a:pPr indent="0" marL="0">
              <a:buNone/>
            </a:pPr>
            <a:r>
              <a:rPr lang="en-US" sz="1150" b="1" dirty="0">
                <a:solidFill>
                  <a:srgbClr val="5F8F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→   </a:t>
            </a:r>
            <a:pPr indent="0" marL="0">
              <a:buNone/>
            </a:pPr>
            <a:r>
              <a:rPr lang="en-US" sz="1150" b="1" dirty="0">
                <a:solidFill>
                  <a:srgbClr val="2B5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🖥 NcodeCenter 통합 화면 (검색 · 공유)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5F8FF0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C8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2002536"/>
            <a:ext cx="365760" cy="365760"/>
          </a:xfrm>
          <a:prstGeom prst="ellipse">
            <a:avLst/>
          </a:prstGeom>
          <a:solidFill>
            <a:srgbClr val="5F8FF0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532888"/>
            <a:ext cx="2148840" cy="256032"/>
          </a:xfrm>
          <a:prstGeom prst="roundRect">
            <a:avLst>
              <a:gd name="adj" fmla="val 14286"/>
            </a:avLst>
          </a:prstGeom>
          <a:solidFill>
            <a:srgbClr val="E9F0F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328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1016" rIns="1016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5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CLI-01 · 고객사 관리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등록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33192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상위/하위/단독 계층 · 서비스유형 · 정산 단가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83280" y="214884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5F8FF0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C8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547872" y="2002536"/>
            <a:ext cx="365760" cy="365760"/>
          </a:xfrm>
          <a:prstGeom prst="ellipse">
            <a:avLst/>
          </a:prstGeom>
          <a:solidFill>
            <a:srgbClr val="5F8FF0"/>
          </a:solidFill>
          <a:ln/>
        </p:spPr>
      </p:sp>
      <p:sp>
        <p:nvSpPr>
          <p:cNvPr id="15" name="Text 13"/>
          <p:cNvSpPr/>
          <p:nvPr/>
        </p:nvSpPr>
        <p:spPr>
          <a:xfrm>
            <a:off x="3547872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66160" y="2532888"/>
            <a:ext cx="2148840" cy="256032"/>
          </a:xfrm>
          <a:prstGeom prst="roundRect">
            <a:avLst>
              <a:gd name="adj" fmla="val 14286"/>
            </a:avLst>
          </a:prstGeom>
          <a:solidFill>
            <a:srgbClr val="E9F0FE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25328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1016" rIns="1016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5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SOB-01 · SOBP 맵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56616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할당 + 서비스 지정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566160" y="33192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casterN·아이글·폼솔루션·NeoStudio2 지정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235440" y="2148840"/>
            <a:ext cx="2514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9050">
            <a:solidFill>
              <a:srgbClr val="5F8FF0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C8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400032" y="2002536"/>
            <a:ext cx="365760" cy="365760"/>
          </a:xfrm>
          <a:prstGeom prst="ellipse">
            <a:avLst/>
          </a:prstGeom>
          <a:solidFill>
            <a:srgbClr val="5F8FF0"/>
          </a:solidFill>
          <a:ln/>
        </p:spPr>
      </p:sp>
      <p:sp>
        <p:nvSpPr>
          <p:cNvPr id="22" name="Text 20"/>
          <p:cNvSpPr/>
          <p:nvPr/>
        </p:nvSpPr>
        <p:spPr>
          <a:xfrm>
            <a:off x="9400032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418320" y="2532888"/>
            <a:ext cx="2148840" cy="256032"/>
          </a:xfrm>
          <a:prstGeom prst="roundRect">
            <a:avLst>
              <a:gd name="adj" fmla="val 14286"/>
            </a:avLst>
          </a:prstGeom>
          <a:solidFill>
            <a:srgbClr val="E9F0FE"/>
          </a:solidFill>
          <a:ln/>
        </p:spPr>
      </p:sp>
      <p:sp>
        <p:nvSpPr>
          <p:cNvPr id="24" name="Text 22"/>
          <p:cNvSpPr/>
          <p:nvPr/>
        </p:nvSpPr>
        <p:spPr>
          <a:xfrm>
            <a:off x="9418320" y="25328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1016" rIns="1016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B5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PRJ-01 · 코드 프로젝트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41832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조회 (조회 전용)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418320" y="3319272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중심 할당 현황 · 대시보드 집계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73952" y="2002536"/>
            <a:ext cx="365760" cy="365760"/>
          </a:xfrm>
          <a:prstGeom prst="ellipse">
            <a:avLst/>
          </a:prstGeom>
          <a:solidFill>
            <a:srgbClr val="8A94A6"/>
          </a:solidFill>
          <a:ln/>
        </p:spPr>
      </p:sp>
      <p:sp>
        <p:nvSpPr>
          <p:cNvPr id="28" name="Text 26"/>
          <p:cNvSpPr/>
          <p:nvPr/>
        </p:nvSpPr>
        <p:spPr>
          <a:xfrm>
            <a:off x="6473952" y="2002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2377440"/>
            <a:ext cx="2514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C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55664" y="2459736"/>
            <a:ext cx="2221992" cy="256032"/>
          </a:xfrm>
          <a:prstGeom prst="roundRect">
            <a:avLst>
              <a:gd name="adj" fmla="val 14286"/>
            </a:avLst>
          </a:prstGeom>
          <a:solidFill>
            <a:srgbClr val="E1F5F1"/>
          </a:solidFill>
          <a:ln/>
        </p:spPr>
      </p:sp>
      <p:sp>
        <p:nvSpPr>
          <p:cNvPr id="31" name="Text 29"/>
          <p:cNvSpPr/>
          <p:nvPr/>
        </p:nvSpPr>
        <p:spPr>
          <a:xfrm>
            <a:off x="6455664" y="2459736"/>
            <a:ext cx="2221992" cy="256032"/>
          </a:xfrm>
          <a:prstGeom prst="rect">
            <a:avLst/>
          </a:prstGeom>
          <a:noFill/>
          <a:ln/>
        </p:spPr>
        <p:txBody>
          <a:bodyPr wrap="square" lIns="0" tIns="1016" rIns="1016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E7D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PRJ-02/03 · 편집 프로젝트 (=casterN)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455664" y="273405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 작업 등록 · 페이지·심볼 · 정산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309360" y="3337560"/>
            <a:ext cx="2514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C8863A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C8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55664" y="3429000"/>
            <a:ext cx="2221992" cy="256032"/>
          </a:xfrm>
          <a:prstGeom prst="roundRect">
            <a:avLst>
              <a:gd name="adj" fmla="val 14286"/>
            </a:avLst>
          </a:prstGeom>
          <a:solidFill>
            <a:srgbClr val="FAF0DD"/>
          </a:solidFill>
          <a:ln/>
        </p:spPr>
      </p:sp>
      <p:sp>
        <p:nvSpPr>
          <p:cNvPr id="35" name="Text 33"/>
          <p:cNvSpPr/>
          <p:nvPr/>
        </p:nvSpPr>
        <p:spPr>
          <a:xfrm>
            <a:off x="6455664" y="3429000"/>
            <a:ext cx="2221992" cy="256032"/>
          </a:xfrm>
          <a:prstGeom prst="rect">
            <a:avLst/>
          </a:prstGeom>
          <a:noFill/>
          <a:ln/>
        </p:spPr>
        <p:txBody>
          <a:bodyPr wrap="square" lIns="0" tIns="1016" rIns="1016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88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TKT-01 · 티켓 발급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55664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 Key(물리) · App Key(계정) · 정산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017520" y="2839212"/>
            <a:ext cx="347472" cy="402336"/>
          </a:xfrm>
          <a:prstGeom prst="rightArrow">
            <a:avLst/>
          </a:prstGeom>
          <a:solidFill>
            <a:srgbClr val="5F8FF0"/>
          </a:solidFill>
          <a:ln/>
        </p:spPr>
      </p:sp>
      <p:sp>
        <p:nvSpPr>
          <p:cNvPr id="38" name="Shape 36"/>
          <p:cNvSpPr/>
          <p:nvPr/>
        </p:nvSpPr>
        <p:spPr>
          <a:xfrm>
            <a:off x="5943600" y="2839212"/>
            <a:ext cx="347472" cy="402336"/>
          </a:xfrm>
          <a:prstGeom prst="rightArrow">
            <a:avLst/>
          </a:prstGeom>
          <a:solidFill>
            <a:srgbClr val="5F8FF0"/>
          </a:solidFill>
          <a:ln/>
        </p:spPr>
      </p:sp>
      <p:sp>
        <p:nvSpPr>
          <p:cNvPr id="39" name="Shape 37"/>
          <p:cNvSpPr/>
          <p:nvPr/>
        </p:nvSpPr>
        <p:spPr>
          <a:xfrm>
            <a:off x="8869680" y="2839212"/>
            <a:ext cx="347472" cy="402336"/>
          </a:xfrm>
          <a:prstGeom prst="rightArrow">
            <a:avLst/>
          </a:prstGeom>
          <a:solidFill>
            <a:srgbClr val="5F8FF0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5262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주체 — 통합 화면을 함께 본다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484632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EEF2F9"/>
          </a:solidFill>
          <a:ln w="12700">
            <a:solidFill>
              <a:srgbClr val="DDE5F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9808" y="5157216"/>
            <a:ext cx="146304" cy="146304"/>
          </a:xfrm>
          <a:prstGeom prst="ellipse">
            <a:avLst/>
          </a:prstGeom>
          <a:solidFill>
            <a:srgbClr val="5F8FF0"/>
          </a:solidFill>
          <a:ln/>
        </p:spPr>
      </p:sp>
      <p:sp>
        <p:nvSpPr>
          <p:cNvPr id="43" name="Text 41"/>
          <p:cNvSpPr/>
          <p:nvPr/>
        </p:nvSpPr>
        <p:spPr>
          <a:xfrm>
            <a:off x="1005840" y="5010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✏️ 편집팀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804672" y="54132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 프로젝트(casterN) 작업 · 발급규모 · 편집원가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07408" y="484632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EEF2F9"/>
          </a:solidFill>
          <a:ln w="12700">
            <a:solidFill>
              <a:srgbClr val="DDE5F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08576" y="5157216"/>
            <a:ext cx="146304" cy="146304"/>
          </a:xfrm>
          <a:prstGeom prst="ellipse">
            <a:avLst/>
          </a:prstGeom>
          <a:solidFill>
            <a:srgbClr val="C8863A"/>
          </a:solidFill>
          <a:ln/>
        </p:spPr>
      </p:sp>
      <p:sp>
        <p:nvSpPr>
          <p:cNvPr id="47" name="Text 45"/>
          <p:cNvSpPr/>
          <p:nvPr/>
        </p:nvSpPr>
        <p:spPr>
          <a:xfrm>
            <a:off x="4864608" y="5010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사업부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4663440" y="54132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고객사 관리 · 서비스유형 · 계층 · 할당 현황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266176" y="4846320"/>
            <a:ext cx="3657600" cy="1051560"/>
          </a:xfrm>
          <a:prstGeom prst="roundRect">
            <a:avLst>
              <a:gd name="adj" fmla="val 6957"/>
            </a:avLst>
          </a:prstGeom>
          <a:solidFill>
            <a:srgbClr val="EEF2F9"/>
          </a:solidFill>
          <a:ln w="12700">
            <a:solidFill>
              <a:srgbClr val="DDE5F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467344" y="5157216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1" name="Text 49"/>
          <p:cNvSpPr/>
          <p:nvPr/>
        </p:nvSpPr>
        <p:spPr>
          <a:xfrm>
            <a:off x="8723376" y="5010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💰 재무팀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8522208" y="54132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발급 · 사용량 기준 정산 · 단가 확인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도식 2  </a:t>
            </a:r>
            <a:pPr indent="0" marL="0">
              <a:buNone/>
            </a:pPr>
            <a:r>
              <a:rPr lang="en-US" sz="27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흐름도 — 코드 제어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SOBP 코드를 쓰는 자체 서비스와 연동 — 코드 입력 시 유효성을 검증해 미할당 · 만료 코드는 차단.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자체 서비스 (SOBP 코드 사용)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EEF2F9"/>
          </a:solidFill>
          <a:ln w="12700">
            <a:solidFill>
              <a:srgbClr val="14B8A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31520" y="1984248"/>
            <a:ext cx="137160" cy="1371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casterN (편집툴)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41448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EEF2F9"/>
          </a:solidFill>
          <a:ln w="12700">
            <a:solidFill>
              <a:srgbClr val="DDE5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642616"/>
            <a:ext cx="137160" cy="137160"/>
          </a:xfrm>
          <a:prstGeom prst="ellipse">
            <a:avLst/>
          </a:prstGeom>
          <a:solidFill>
            <a:srgbClr val="5F8FF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4414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폼솔루션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099816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EEF2F9"/>
          </a:solidFill>
          <a:ln w="12700">
            <a:solidFill>
              <a:srgbClr val="DDE5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300984"/>
            <a:ext cx="137160" cy="1371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0998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NeoStudio2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3200400" cy="548640"/>
          </a:xfrm>
          <a:prstGeom prst="roundRect">
            <a:avLst>
              <a:gd name="adj" fmla="val 13333"/>
            </a:avLst>
          </a:prstGeom>
          <a:solidFill>
            <a:srgbClr val="EEF2F9"/>
          </a:solidFill>
          <a:ln w="12700">
            <a:solidFill>
              <a:srgbClr val="DDE5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959352"/>
            <a:ext cx="137160" cy="137160"/>
          </a:xfrm>
          <a:prstGeom prst="ellipse">
            <a:avLst/>
          </a:prstGeom>
          <a:solidFill>
            <a:srgbClr val="5F8FF0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75818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86200" y="2331720"/>
            <a:ext cx="640080" cy="457200"/>
          </a:xfrm>
          <a:prstGeom prst="rightArrow">
            <a:avLst/>
          </a:prstGeom>
          <a:solidFill>
            <a:srgbClr val="5F8FF0"/>
          </a:solidFill>
          <a:ln/>
        </p:spPr>
      </p:sp>
      <p:sp>
        <p:nvSpPr>
          <p:cNvPr id="18" name="Text 16"/>
          <p:cNvSpPr/>
          <p:nvPr/>
        </p:nvSpPr>
        <p:spPr>
          <a:xfrm>
            <a:off x="3794760" y="281635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API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0" y="1737360"/>
            <a:ext cx="6858000" cy="2286000"/>
          </a:xfrm>
          <a:prstGeom prst="roundRect">
            <a:avLst>
              <a:gd name="adj" fmla="val 4800"/>
            </a:avLst>
          </a:prstGeom>
          <a:solidFill>
            <a:srgbClr val="E9F0FE"/>
          </a:solidFill>
          <a:ln w="25400">
            <a:solidFill>
              <a:srgbClr val="5F8FF0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C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96596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5F8FF0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715000" y="195681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NcodeCenter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733288" y="23042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B5C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관제 허브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120640" y="278892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SOBP 원장 · 할당 상태('할당됨 / 미발급') 보유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유효성 검증 게이트 제공 (API)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사용량 원장 자동 반영 · 집계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43434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9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코드 입력 시 — 유효성 검증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2926080" cy="137160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5F8FF0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C8">
                <a:alpha val="2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466344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할당된 코드?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기간 유효?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520440" y="5074920"/>
            <a:ext cx="1554480" cy="-45720"/>
          </a:xfrm>
          <a:prstGeom prst="line">
            <a:avLst/>
          </a:prstGeom>
          <a:noFill/>
          <a:ln w="25400">
            <a:solidFill>
              <a:srgbClr val="3F9C6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520440" y="5623560"/>
            <a:ext cx="1554480" cy="45720"/>
          </a:xfrm>
          <a:prstGeom prst="line">
            <a:avLst/>
          </a:prstGeom>
          <a:noFill/>
          <a:ln w="25400">
            <a:solidFill>
              <a:srgbClr val="D64B4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120640" y="4709160"/>
            <a:ext cx="6492240" cy="566928"/>
          </a:xfrm>
          <a:prstGeom prst="roundRect">
            <a:avLst>
              <a:gd name="adj" fmla="val 12903"/>
            </a:avLst>
          </a:prstGeom>
          <a:solidFill>
            <a:srgbClr val="E4F3EA"/>
          </a:solidFill>
          <a:ln w="15240">
            <a:solidFill>
              <a:srgbClr val="3F9C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470916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9C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✅ 유효 → 서비스 사용 허용   </a:t>
            </a:r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할당 코드 · 기간 내 → 정상 사용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20640" y="5413248"/>
            <a:ext cx="6492240" cy="566928"/>
          </a:xfrm>
          <a:prstGeom prst="roundRect">
            <a:avLst>
              <a:gd name="adj" fmla="val 12903"/>
            </a:avLst>
          </a:prstGeom>
          <a:solidFill>
            <a:srgbClr val="FBE6E6"/>
          </a:solidFill>
          <a:ln w="15240">
            <a:solidFill>
              <a:srgbClr val="D64B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541324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B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⛔ 무효 → 서비스 차단   </a:t>
            </a:r>
            <a:pPr indent="0" marL="0">
              <a:buNone/>
            </a:pPr>
            <a:r>
              <a:rPr lang="en-US" sz="12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미할당 코드 · 기간 만료 → 사용 불가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도식 2 (계속)  </a:t>
            </a:r>
            <a:pPr indent="0" marL="0">
              <a:buNone/>
            </a:pPr>
            <a:r>
              <a:rPr lang="en-US" sz="27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사용량 반영 — 수동에서 자동으로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할당된 코드의 사용을 원장에 반영 — 현재는 수동 입력, 향후 casterN 사용량 자동 반영이 목표.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2860">
            <a:solidFill>
              <a:srgbClr val="C8863A"/>
            </a:solidFill>
            <a:prstDash val="solid"/>
          </a:ln>
          <a:effectLst>
            <a:outerShdw sx="100000" sy="100000" kx="0" ky="0" algn="bl" rotWithShape="0" blurRad="101600" dist="38100" dir="5400000">
              <a:srgbClr val="8AA0C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FAF0D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8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 · 현재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 프로젝트에 수동 입력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casterN 등에서 쓴 코드 사용량을 담당자가 편집 프로젝트 화면에 직접 입력한다.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4297680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EEF2F9"/>
          </a:solidFill>
          <a:ln w="12700">
            <a:solidFill>
              <a:srgbClr val="DDE5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2976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casterN 작업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4754880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EEF2F9"/>
          </a:solidFill>
          <a:ln w="12700">
            <a:solidFill>
              <a:srgbClr val="DDE5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7548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사용량 확인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5212080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EEF2F9"/>
          </a:solidFill>
          <a:ln w="12700">
            <a:solidFill>
              <a:srgbClr val="DDE5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52120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86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 프로젝트에 수동 입력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0" y="1828800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2860">
            <a:solidFill>
              <a:srgbClr val="14B8A6"/>
            </a:solidFill>
            <a:prstDash val="true"/>
          </a:ln>
          <a:effectLst>
            <a:outerShdw sx="100000" sy="100000" kx="0" ky="0" algn="bl" rotWithShape="0" blurRad="101600" dist="38100" dir="5400000">
              <a:srgbClr val="8AA0C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49440" y="2194560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E1F5F1"/>
          </a:solidFill>
          <a:ln w="12700">
            <a:solidFill>
              <a:srgbClr val="14B8A6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949440" y="2194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 · 목표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0" y="2788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사용한 만큼 자동 반영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49440" y="329184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67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casterN에서 작업한 코드 사용량을 수동 입력 없이 원장에 자동 반영한다.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9440" y="4297680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EEF2F9"/>
          </a:solidFill>
          <a:ln w="12700">
            <a:solidFill>
              <a:srgbClr val="DDE5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42976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casterN 작업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0" y="4754880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EEF2F9"/>
          </a:solidFill>
          <a:ln w="12700">
            <a:solidFill>
              <a:srgbClr val="DDE5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47548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7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자동 전송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49440" y="5212080"/>
            <a:ext cx="4297680" cy="365760"/>
          </a:xfrm>
          <a:prstGeom prst="roundRect">
            <a:avLst>
              <a:gd name="adj" fmla="val 12500"/>
            </a:avLst>
          </a:prstGeom>
          <a:solidFill>
            <a:srgbClr val="EEF2F9"/>
          </a:solidFill>
          <a:ln w="12700">
            <a:solidFill>
              <a:srgbClr val="DDE5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52120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NcodeCenter 원장 자동 반영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0" y="3520440"/>
            <a:ext cx="731520" cy="457200"/>
          </a:xfrm>
          <a:prstGeom prst="rightArrow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D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자동화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2984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8F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Admin 계승 + NcodeCenter가 더한 것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E3160"/>
          </a:solidFill>
          <a:ln w="12700">
            <a:solidFill>
              <a:srgbClr val="2A3E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2334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0299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8F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관리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26280" y="1975104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User·Company → 고객사(상위/하위/단독) 통합. 엑셀 관리를 검색 화면으로. 편집·사업·재무팀 공동 활용.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E3160"/>
          </a:solidFill>
          <a:ln w="12700">
            <a:solidFill>
              <a:srgbClr val="2A3E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081528"/>
            <a:ext cx="502920" cy="502920"/>
          </a:xfrm>
          <a:prstGeom prst="ellipse">
            <a:avLst/>
          </a:prstGeom>
          <a:solidFill>
            <a:srgbClr val="23345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305409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관제 + 활동 로그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26280" y="2999232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미할당·만료 코드 차단(유효 코드만 허용). 활동 로그로 변경 이력 추적. → 개발팀 반영 필요.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22776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E3160"/>
          </a:solidFill>
          <a:ln w="12700">
            <a:solidFill>
              <a:srgbClr val="2A3E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105656"/>
            <a:ext cx="502920" cy="502920"/>
          </a:xfrm>
          <a:prstGeom prst="ellipse">
            <a:avLst/>
          </a:prstGeom>
          <a:solidFill>
            <a:srgbClr val="23345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05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0782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A9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정산 + 자동 반영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26280" y="40233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편집(=casterN) 3단 단가로 청구액 산출(신규). 수동 입력 → casterN 자동 반영이 목표.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946904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1E3160"/>
          </a:solidFill>
          <a:ln w="12700">
            <a:solidFill>
              <a:srgbClr val="2A3E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129784"/>
            <a:ext cx="502920" cy="502920"/>
          </a:xfrm>
          <a:prstGeom prst="ellipse">
            <a:avLst/>
          </a:prstGeom>
          <a:solidFill>
            <a:srgbClr val="23345F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129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🧭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510235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정책 정리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526280" y="5047488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예약(RESERVED) 폐기 → '할당됨/미발급'. 서비스는 SOBP 할당에서 지정. 정책 변경은 Changelog로 이력 관리.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E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Ncode 상태 관리 시스템 · 프로토타입 구조 설명 · 화면 ID/정책은 IA · Operations-Policy 문서 기준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NcodeCenter 구조도</dc:title>
  <dc:subject>PptxGenJS Presentation</dc:subject>
  <dc:creator>NcodeCenter</dc:creator>
  <cp:lastModifiedBy>NcodeCenter</cp:lastModifiedBy>
  <cp:revision>1</cp:revision>
  <dcterms:created xsi:type="dcterms:W3CDTF">2026-08-03T08:53:17Z</dcterms:created>
  <dcterms:modified xsi:type="dcterms:W3CDTF">2026-08-03T08:53:17Z</dcterms:modified>
</cp:coreProperties>
</file>